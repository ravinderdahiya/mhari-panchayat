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7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FBDAA-7D67-40CC-AFA6-68FFAA02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8DAC9-AFCA-C7BE-5308-3FD54C67D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E151E-8998-2015-DC24-92B310F3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A29D-7891-4CBC-B856-06F84AEDE743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965BA-E90B-43AF-08D8-D39A4304E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3A7B-7F92-AFAF-EEE9-A7E891FB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1276-4AAD-41EC-A211-8E24382F49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823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BAE8-59FD-7A65-BA31-469651CB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11382-3C9C-12D5-794C-68CFC20C5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98242-303A-82DA-D240-B1A2D97F5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A29D-7891-4CBC-B856-06F84AEDE743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A091-BB56-46FB-523E-039472E2B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730B8-52C7-A387-10DC-66313EC83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1276-4AAD-41EC-A211-8E24382F49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98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27A66-831E-8035-4BA3-7BCEFCFC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2BAEE-8F43-D8B2-A65F-F9FE0BC78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E33DF-7E38-9BB2-0856-2614F7761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A29D-7891-4CBC-B856-06F84AEDE743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48F94-68D1-EAC1-D16C-883590F5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0256C-0DA3-3CD5-88D1-2DCE8A1F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1276-4AAD-41EC-A211-8E24382F49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734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E2723-C049-0DD7-EB1C-582B8AE89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F8748-3285-CDA0-43EE-90B94704F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54F67-3400-B642-BDB3-2C84A2634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59D6D-BB7F-0132-9BFC-2F9D1FD1E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A29D-7891-4CBC-B856-06F84AEDE743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686DF-B85D-F3A0-48A8-31054EF80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62019-5D2E-F069-232E-3A1B9E1D4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1276-4AAD-41EC-A211-8E24382F49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106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5B878-20E0-A704-5ED0-54B73ED41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61C8C-5059-95AC-6575-5FC43293E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13622D-05C8-25B3-97AC-3EB5F108B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5EA76-DFEA-BB72-7C98-7FE6F7B18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753BCE-10D8-6337-87A7-EFF072DB7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BBAD97-0A35-070D-48D9-1503F3B8C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A29D-7891-4CBC-B856-06F84AEDE743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D6FD3-DC5F-0746-084B-D056691D9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20E1F9-5EDF-CBD6-2A0A-A28ACCD75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1276-4AAD-41EC-A211-8E24382F49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13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EE411-4BCE-E786-1B0E-D1C2B206E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8A9526-A77C-C149-C97D-0C60EE41A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A29D-7891-4CBC-B856-06F84AEDE743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0F0F6-07F4-ECA8-0F52-918600B5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F2234-C78C-1D56-F8A5-36A4FED1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1276-4AAD-41EC-A211-8E24382F49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885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6522F7-8A21-0A5F-940F-C65135A4B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A29D-7891-4CBC-B856-06F84AEDE743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21A6F-8E37-A80B-2D67-E240F1B1C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A9241-327C-98BB-8DAE-0E101FBA2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1276-4AAD-41EC-A211-8E24382F49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034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C1CA-17A3-31D7-FA3D-D4F19ACDE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E3451-A060-C8A1-4821-578EC5DA2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BEC73-5EF6-E03C-8EF8-BD3C9D45C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ACF70-EE13-34C8-A4D4-5B6F2CAA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A29D-7891-4CBC-B856-06F84AEDE743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C1387-00BD-58F1-4B19-6D185AD6B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6AD9C-9CBB-BADB-AE4C-3AA167B7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1276-4AAD-41EC-A211-8E24382F49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72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AB1B-1D91-010F-E088-CE039B2CD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36B40-0D80-3651-1320-E4E43C1A3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1D0CD-6B5A-52FC-61CB-D3A9E4D5C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D2FFF-CF65-1112-081C-B95A792D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A29D-7891-4CBC-B856-06F84AEDE743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A4E96-8047-A499-2EA5-E009755B4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AF0DA-594C-6D61-44EB-24A696EF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1276-4AAD-41EC-A211-8E24382F49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909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2CEB0-2DD7-5144-7B8F-9ECCD24D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06A5F-5708-A6BE-6DB9-EC26F70D3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B707A-F90D-D3C7-88A7-B0476708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A29D-7891-4CBC-B856-06F84AEDE743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03290-AD3B-E73C-7EEE-BBF26A8B0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24D0C-F1D5-D37A-6D01-75E94D23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1276-4AAD-41EC-A211-8E24382F49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81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6980FF-2A5D-C463-5F73-3E3C101994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F0633-F6D6-D4D1-CC88-D13DBB736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6ECF1-42E8-B9F9-E7DC-0C86F2936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A29D-7891-4CBC-B856-06F84AEDE743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63B6C-629D-4E7E-1DC4-6EBB92CD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FC191-1760-6D62-30E0-9F1CB6F0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1276-4AAD-41EC-A211-8E24382F49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88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B0361A-AA70-3425-03D1-963F42100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55122-D8B9-669D-821C-B1F7EDBFE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1065C-9A90-37D1-8BC1-78BD539F1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7FA29D-7891-4CBC-B856-06F84AEDE743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376B6-23DD-CFB7-E3AE-341D518A8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6CD78-8F2C-1B0D-9B67-1246CE1B1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971276-4AAD-41EC-A211-8E24382F49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233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488C7E-C0D5-EBE5-A84E-41A209821AD4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76C91A-5DB7-3139-761B-4315FEDFCF6D}"/>
              </a:ext>
            </a:extLst>
          </p:cNvPr>
          <p:cNvSpPr txBox="1"/>
          <p:nvPr/>
        </p:nvSpPr>
        <p:spPr>
          <a:xfrm>
            <a:off x="685800" y="444500"/>
            <a:ext cx="6350000" cy="24622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000" b="1">
                <a:solidFill>
                  <a:srgbClr val="C68AE0"/>
                </a:solidFill>
                <a:latin typeface="Aptos" panose="020B0004020202020204" pitchFamily="34" charset="0"/>
              </a:rPr>
              <a:t>PROJECT REVIEW  |  AUGUST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E898FF-12C7-B3AF-6451-D890322E9472}"/>
              </a:ext>
            </a:extLst>
          </p:cNvPr>
          <p:cNvSpPr txBox="1"/>
          <p:nvPr/>
        </p:nvSpPr>
        <p:spPr>
          <a:xfrm>
            <a:off x="685800" y="863600"/>
            <a:ext cx="10795000" cy="5539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3000" b="1">
                <a:solidFill>
                  <a:srgbClr val="262319"/>
                </a:solidFill>
                <a:latin typeface="Aptos Display" panose="020B0004020202020204" pitchFamily="34" charset="0"/>
              </a:rPr>
              <a:t>Mhari Panchayat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D4442-52E9-8265-BFF6-775C695D0323}"/>
              </a:ext>
            </a:extLst>
          </p:cNvPr>
          <p:cNvSpPr txBox="1"/>
          <p:nvPr/>
        </p:nvSpPr>
        <p:spPr>
          <a:xfrm>
            <a:off x="685800" y="1676400"/>
            <a:ext cx="10668000" cy="29238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300">
                <a:solidFill>
                  <a:srgbClr val="7B7574"/>
                </a:solidFill>
                <a:latin typeface="Aptos" panose="020B0004020202020204" pitchFamily="34" charset="0"/>
              </a:rPr>
              <a:t>Connected grievance, field-survey and village asset governance</a:t>
            </a:r>
            <a:endParaRPr lang="en-IN" sz="13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3FC1C2-601F-2D6D-3974-26F4456F12E8}"/>
              </a:ext>
            </a:extLst>
          </p:cNvPr>
          <p:cNvSpPr/>
          <p:nvPr/>
        </p:nvSpPr>
        <p:spPr>
          <a:xfrm>
            <a:off x="685800" y="2590800"/>
            <a:ext cx="10820400" cy="2997200"/>
          </a:xfrm>
          <a:prstGeom prst="round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DB4A1-53C7-030B-7CDA-32A39397A0B6}"/>
              </a:ext>
            </a:extLst>
          </p:cNvPr>
          <p:cNvSpPr txBox="1"/>
          <p:nvPr/>
        </p:nvSpPr>
        <p:spPr>
          <a:xfrm>
            <a:off x="1092200" y="3098800"/>
            <a:ext cx="8255000" cy="50783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Aptos Display" panose="020B0004020202020204" pitchFamily="34" charset="0"/>
              </a:rPr>
              <a:t>One platform for every village workflow.</a:t>
            </a:r>
            <a:endParaRPr lang="en-IN" sz="27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B64CF-F2C7-9BF9-E676-5A7FF9867A7A}"/>
              </a:ext>
            </a:extLst>
          </p:cNvPr>
          <p:cNvSpPr txBox="1"/>
          <p:nvPr/>
        </p:nvSpPr>
        <p:spPr>
          <a:xfrm>
            <a:off x="1092200" y="4013200"/>
            <a:ext cx="7874000" cy="30777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400" b="1">
                <a:solidFill>
                  <a:srgbClr val="C68AE0"/>
                </a:solidFill>
                <a:latin typeface="Aptos" panose="020B0004020202020204" pitchFamily="34" charset="0"/>
              </a:rPr>
              <a:t>Citizen  |  Officer  |  Surveyor  |  Administrator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560D6F-6031-F17C-EAE6-8CF3AAAD6ADD}"/>
              </a:ext>
            </a:extLst>
          </p:cNvPr>
          <p:cNvSpPr txBox="1"/>
          <p:nvPr/>
        </p:nvSpPr>
        <p:spPr>
          <a:xfrm>
            <a:off x="1092200" y="4660900"/>
            <a:ext cx="88900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Report  &gt;  Assign  &gt;  Act  &gt;  Verify  &gt;  Improve</a:t>
            </a:r>
            <a:endParaRPr lang="en-IN" sz="17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562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55010A-0236-B15A-0BBF-D28EA44F41A0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EF53E7-8E18-FC76-815C-6AB2765727AB}"/>
              </a:ext>
            </a:extLst>
          </p:cNvPr>
          <p:cNvSpPr txBox="1"/>
          <p:nvPr/>
        </p:nvSpPr>
        <p:spPr>
          <a:xfrm>
            <a:off x="685800" y="444500"/>
            <a:ext cx="6350000" cy="24622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000" b="1">
                <a:solidFill>
                  <a:srgbClr val="C68AE0"/>
                </a:solidFill>
                <a:latin typeface="Aptos" panose="020B0004020202020204" pitchFamily="34" charset="0"/>
              </a:rPr>
              <a:t>01  /  EXECUTIVE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7763D2-A8AA-376B-8A19-8368DF2239B7}"/>
              </a:ext>
            </a:extLst>
          </p:cNvPr>
          <p:cNvSpPr txBox="1"/>
          <p:nvPr/>
        </p:nvSpPr>
        <p:spPr>
          <a:xfrm>
            <a:off x="685800" y="863600"/>
            <a:ext cx="10795000" cy="5539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3000" b="1">
                <a:solidFill>
                  <a:srgbClr val="262319"/>
                </a:solidFill>
                <a:latin typeface="Aptos Display" panose="020B0004020202020204" pitchFamily="34" charset="0"/>
              </a:rPr>
              <a:t>Project purpose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15F23-84F1-1090-27F3-90A0DFE924FC}"/>
              </a:ext>
            </a:extLst>
          </p:cNvPr>
          <p:cNvSpPr txBox="1"/>
          <p:nvPr/>
        </p:nvSpPr>
        <p:spPr>
          <a:xfrm>
            <a:off x="685800" y="1676400"/>
            <a:ext cx="10668000" cy="29238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300">
                <a:solidFill>
                  <a:srgbClr val="7B7574"/>
                </a:solidFill>
                <a:latin typeface="Aptos" panose="020B0004020202020204" pitchFamily="34" charset="0"/>
              </a:rPr>
              <a:t>Digitise public service delivery while keeping field action visible and accountable.</a:t>
            </a:r>
            <a:endParaRPr lang="en-IN" sz="13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8AA805-D360-4F2B-9EC5-B640DC72F1A8}"/>
              </a:ext>
            </a:extLst>
          </p:cNvPr>
          <p:cNvSpPr/>
          <p:nvPr/>
        </p:nvSpPr>
        <p:spPr>
          <a:xfrm>
            <a:off x="685800" y="2730500"/>
            <a:ext cx="3471333" cy="2641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78249-EE33-E058-54B8-9A048FA14B59}"/>
              </a:ext>
            </a:extLst>
          </p:cNvPr>
          <p:cNvSpPr txBox="1"/>
          <p:nvPr/>
        </p:nvSpPr>
        <p:spPr>
          <a:xfrm>
            <a:off x="914400" y="2959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4FFAD0-1139-271E-1986-5D1857F06080}"/>
              </a:ext>
            </a:extLst>
          </p:cNvPr>
          <p:cNvSpPr txBox="1"/>
          <p:nvPr/>
        </p:nvSpPr>
        <p:spPr>
          <a:xfrm>
            <a:off x="914400" y="3390900"/>
            <a:ext cx="3014133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Accessible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AA5FC5-8845-2A1E-2D59-309EA25B0E0F}"/>
              </a:ext>
            </a:extLst>
          </p:cNvPr>
          <p:cNvSpPr txBox="1"/>
          <p:nvPr/>
        </p:nvSpPr>
        <p:spPr>
          <a:xfrm>
            <a:off x="914400" y="3924300"/>
            <a:ext cx="3014133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Mobile-first service for citizens and field teams.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64AB5E-CBFD-D5F6-0F72-29050354647C}"/>
              </a:ext>
            </a:extLst>
          </p:cNvPr>
          <p:cNvSpPr/>
          <p:nvPr/>
        </p:nvSpPr>
        <p:spPr>
          <a:xfrm>
            <a:off x="4360333" y="2730500"/>
            <a:ext cx="3471334" cy="2641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0340C-0351-30CE-5B30-96EB783D7E34}"/>
              </a:ext>
            </a:extLst>
          </p:cNvPr>
          <p:cNvSpPr txBox="1"/>
          <p:nvPr/>
        </p:nvSpPr>
        <p:spPr>
          <a:xfrm>
            <a:off x="4588933" y="2959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8368E4-8B2E-C84B-71A3-C87C906188D3}"/>
              </a:ext>
            </a:extLst>
          </p:cNvPr>
          <p:cNvSpPr txBox="1"/>
          <p:nvPr/>
        </p:nvSpPr>
        <p:spPr>
          <a:xfrm>
            <a:off x="4588933" y="3390900"/>
            <a:ext cx="3014133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Accountable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7F0690-B77D-0232-7485-D39C7CAC51E4}"/>
              </a:ext>
            </a:extLst>
          </p:cNvPr>
          <p:cNvSpPr txBox="1"/>
          <p:nvPr/>
        </p:nvSpPr>
        <p:spPr>
          <a:xfrm>
            <a:off x="4588933" y="3924300"/>
            <a:ext cx="3014133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Traceable status, ownership, evidence and feedback.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2448D2B-34A4-293D-9335-69C30EB369C6}"/>
              </a:ext>
            </a:extLst>
          </p:cNvPr>
          <p:cNvSpPr/>
          <p:nvPr/>
        </p:nvSpPr>
        <p:spPr>
          <a:xfrm>
            <a:off x="8034867" y="2730500"/>
            <a:ext cx="3471333" cy="2641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9325DD-6620-D0D8-47D0-83E4BCDA4429}"/>
              </a:ext>
            </a:extLst>
          </p:cNvPr>
          <p:cNvSpPr txBox="1"/>
          <p:nvPr/>
        </p:nvSpPr>
        <p:spPr>
          <a:xfrm>
            <a:off x="8263467" y="2959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1B7949-56A2-CA7D-9EC5-5E516A48CD5E}"/>
              </a:ext>
            </a:extLst>
          </p:cNvPr>
          <p:cNvSpPr txBox="1"/>
          <p:nvPr/>
        </p:nvSpPr>
        <p:spPr>
          <a:xfrm>
            <a:off x="8263467" y="3390900"/>
            <a:ext cx="3014133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Actionable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517C37-1357-9E45-C987-7C687D67906E}"/>
              </a:ext>
            </a:extLst>
          </p:cNvPr>
          <p:cNvSpPr txBox="1"/>
          <p:nvPr/>
        </p:nvSpPr>
        <p:spPr>
          <a:xfrm>
            <a:off x="8263467" y="3924300"/>
            <a:ext cx="3014133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Dashboards, GIS assets and operational reporting.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356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942A90-5E63-9578-BD54-B90A12145962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78A63-C01A-6817-1B91-F2F076E150BD}"/>
              </a:ext>
            </a:extLst>
          </p:cNvPr>
          <p:cNvSpPr txBox="1"/>
          <p:nvPr/>
        </p:nvSpPr>
        <p:spPr>
          <a:xfrm>
            <a:off x="685800" y="444500"/>
            <a:ext cx="6350000" cy="24622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000" b="1">
                <a:solidFill>
                  <a:srgbClr val="C68AE0"/>
                </a:solidFill>
                <a:latin typeface="Aptos" panose="020B0004020202020204" pitchFamily="34" charset="0"/>
              </a:rPr>
              <a:t>02  /  SOLUTION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5B4BE-A129-5857-153B-046D1660AEFE}"/>
              </a:ext>
            </a:extLst>
          </p:cNvPr>
          <p:cNvSpPr txBox="1"/>
          <p:nvPr/>
        </p:nvSpPr>
        <p:spPr>
          <a:xfrm>
            <a:off x="685800" y="863600"/>
            <a:ext cx="10795000" cy="5539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3000" b="1">
                <a:solidFill>
                  <a:srgbClr val="262319"/>
                </a:solidFill>
                <a:latin typeface="Aptos Display" panose="020B0004020202020204" pitchFamily="34" charset="0"/>
              </a:rPr>
              <a:t>One platform. Three working surfaces.</a:t>
            </a:r>
            <a:endParaRPr lang="en-IN" sz="3000" b="1">
              <a:solidFill>
                <a:srgbClr val="262319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7348D3-8D73-DD84-0DC3-EB2B6735ABE7}"/>
              </a:ext>
            </a:extLst>
          </p:cNvPr>
          <p:cNvSpPr txBox="1"/>
          <p:nvPr/>
        </p:nvSpPr>
        <p:spPr>
          <a:xfrm>
            <a:off x="685800" y="1676400"/>
            <a:ext cx="10668000" cy="29238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300">
                <a:solidFill>
                  <a:srgbClr val="7B7574"/>
                </a:solidFill>
                <a:latin typeface="Aptos" panose="020B0004020202020204" pitchFamily="34" charset="0"/>
              </a:rPr>
              <a:t>Every role works on a shared, secure data and workflow layer.</a:t>
            </a:r>
            <a:endParaRPr lang="en-IN" sz="13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B5E130-1D90-0DB3-AD4F-5C7E8E31FA7C}"/>
              </a:ext>
            </a:extLst>
          </p:cNvPr>
          <p:cNvSpPr/>
          <p:nvPr/>
        </p:nvSpPr>
        <p:spPr>
          <a:xfrm>
            <a:off x="685800" y="2730500"/>
            <a:ext cx="3471333" cy="2641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57D63-A738-9E47-F7E1-D1764A2BF876}"/>
              </a:ext>
            </a:extLst>
          </p:cNvPr>
          <p:cNvSpPr txBox="1"/>
          <p:nvPr/>
        </p:nvSpPr>
        <p:spPr>
          <a:xfrm>
            <a:off x="914400" y="2959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5B5437-4057-96F6-AB57-2363AA1F3F39}"/>
              </a:ext>
            </a:extLst>
          </p:cNvPr>
          <p:cNvSpPr txBox="1"/>
          <p:nvPr/>
        </p:nvSpPr>
        <p:spPr>
          <a:xfrm>
            <a:off x="914400" y="3390900"/>
            <a:ext cx="3014133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Mobile App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96C1E7-0D86-25AC-574E-1D60A1DD9027}"/>
              </a:ext>
            </a:extLst>
          </p:cNvPr>
          <p:cNvSpPr txBox="1"/>
          <p:nvPr/>
        </p:nvSpPr>
        <p:spPr>
          <a:xfrm>
            <a:off x="914400" y="3924300"/>
            <a:ext cx="3014133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>
                <a:solidFill>
                  <a:srgbClr val="7B7574"/>
                </a:solidFill>
                <a:latin typeface="Aptos" panose="020B0004020202020204" pitchFamily="34" charset="0"/>
              </a:rPr>
              <a:t>Citizen complaints, officer actions, surveyor GIS capture.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90EB22-01E4-6D49-8745-D20D144A5BD0}"/>
              </a:ext>
            </a:extLst>
          </p:cNvPr>
          <p:cNvSpPr/>
          <p:nvPr/>
        </p:nvSpPr>
        <p:spPr>
          <a:xfrm>
            <a:off x="4360333" y="2730500"/>
            <a:ext cx="3471334" cy="2641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DCB8C-D6CE-E145-1BC8-592452A45D02}"/>
              </a:ext>
            </a:extLst>
          </p:cNvPr>
          <p:cNvSpPr txBox="1"/>
          <p:nvPr/>
        </p:nvSpPr>
        <p:spPr>
          <a:xfrm>
            <a:off x="4588933" y="2959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4B9B8C-022F-6A17-98BA-E4D993C696F1}"/>
              </a:ext>
            </a:extLst>
          </p:cNvPr>
          <p:cNvSpPr txBox="1"/>
          <p:nvPr/>
        </p:nvSpPr>
        <p:spPr>
          <a:xfrm>
            <a:off x="4588933" y="3390900"/>
            <a:ext cx="3014133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Admin Panel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FFBA46-99FD-E55D-B4DC-D6F680EB3D72}"/>
              </a:ext>
            </a:extLst>
          </p:cNvPr>
          <p:cNvSpPr txBox="1"/>
          <p:nvPr/>
        </p:nvSpPr>
        <p:spPr>
          <a:xfrm>
            <a:off x="4588933" y="3924300"/>
            <a:ext cx="3014133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Operations dashboard, review queues, masters, users and roles.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671643-CE82-C1E0-9376-69B3CD944308}"/>
              </a:ext>
            </a:extLst>
          </p:cNvPr>
          <p:cNvSpPr/>
          <p:nvPr/>
        </p:nvSpPr>
        <p:spPr>
          <a:xfrm>
            <a:off x="8034867" y="2730500"/>
            <a:ext cx="3471333" cy="2641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E8426-9B1B-1F17-3BB1-F1BCE2B92700}"/>
              </a:ext>
            </a:extLst>
          </p:cNvPr>
          <p:cNvSpPr txBox="1"/>
          <p:nvPr/>
        </p:nvSpPr>
        <p:spPr>
          <a:xfrm>
            <a:off x="8263467" y="2959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E093A7-5B05-ACAE-CCB9-85B8ED1799AA}"/>
              </a:ext>
            </a:extLst>
          </p:cNvPr>
          <p:cNvSpPr txBox="1"/>
          <p:nvPr/>
        </p:nvSpPr>
        <p:spPr>
          <a:xfrm>
            <a:off x="8263467" y="3390900"/>
            <a:ext cx="3014133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Laravel API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EFFB9F-129E-F154-4E3D-225F3DCCDEC4}"/>
              </a:ext>
            </a:extLst>
          </p:cNvPr>
          <p:cNvSpPr txBox="1"/>
          <p:nvPr/>
        </p:nvSpPr>
        <p:spPr>
          <a:xfrm>
            <a:off x="8263467" y="3924300"/>
            <a:ext cx="3014133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Authentication, workflow rules, PostgreSQL data and integrations.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845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2D845C-C811-91E3-D141-9DB3039813A2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E07F4B-7EB1-8586-7059-A7386A2A2288}"/>
              </a:ext>
            </a:extLst>
          </p:cNvPr>
          <p:cNvSpPr txBox="1"/>
          <p:nvPr/>
        </p:nvSpPr>
        <p:spPr>
          <a:xfrm>
            <a:off x="685800" y="444500"/>
            <a:ext cx="6350000" cy="24622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000" b="1">
                <a:solidFill>
                  <a:srgbClr val="C68AE0"/>
                </a:solidFill>
                <a:latin typeface="Aptos" panose="020B0004020202020204" pitchFamily="34" charset="0"/>
              </a:rPr>
              <a:t>03  /  MOBILE APP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C8A5C2-F9EA-D348-298F-751D2A28A71A}"/>
              </a:ext>
            </a:extLst>
          </p:cNvPr>
          <p:cNvSpPr txBox="1"/>
          <p:nvPr/>
        </p:nvSpPr>
        <p:spPr>
          <a:xfrm>
            <a:off x="685800" y="863600"/>
            <a:ext cx="10795000" cy="5539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3000" b="1">
                <a:solidFill>
                  <a:srgbClr val="262319"/>
                </a:solidFill>
                <a:latin typeface="Aptos Display" panose="020B0004020202020204" pitchFamily="34" charset="0"/>
              </a:rPr>
              <a:t>Services in every citizen's hand</a:t>
            </a:r>
            <a:endParaRPr lang="en-IN" sz="3000" b="1">
              <a:solidFill>
                <a:srgbClr val="262319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6311E-4ACC-9668-A1A9-83B9C71C1F98}"/>
              </a:ext>
            </a:extLst>
          </p:cNvPr>
          <p:cNvSpPr txBox="1"/>
          <p:nvPr/>
        </p:nvSpPr>
        <p:spPr>
          <a:xfrm>
            <a:off x="685800" y="1676400"/>
            <a:ext cx="10668000" cy="29238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300">
                <a:solidFill>
                  <a:srgbClr val="7B7574"/>
                </a:solidFill>
                <a:latin typeface="Aptos" panose="020B0004020202020204" pitchFamily="34" charset="0"/>
              </a:rPr>
              <a:t>Role-specific journeys for citizens, officers and surveyors.</a:t>
            </a:r>
            <a:endParaRPr lang="en-IN" sz="13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DB74E2-3940-DDB6-A0C4-8DAEB3694821}"/>
              </a:ext>
            </a:extLst>
          </p:cNvPr>
          <p:cNvSpPr/>
          <p:nvPr/>
        </p:nvSpPr>
        <p:spPr>
          <a:xfrm>
            <a:off x="6858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FAEB40-52CA-DF45-3503-C50331EE0320}"/>
              </a:ext>
            </a:extLst>
          </p:cNvPr>
          <p:cNvSpPr txBox="1"/>
          <p:nvPr/>
        </p:nvSpPr>
        <p:spPr>
          <a:xfrm>
            <a:off x="9144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997010-EE35-CFA6-3C1C-C75E30D9F4F9}"/>
              </a:ext>
            </a:extLst>
          </p:cNvPr>
          <p:cNvSpPr txBox="1"/>
          <p:nvPr/>
        </p:nvSpPr>
        <p:spPr>
          <a:xfrm>
            <a:off x="9144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Citizen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DC0178-6175-CFD7-AD98-4718483EEEF2}"/>
              </a:ext>
            </a:extLst>
          </p:cNvPr>
          <p:cNvSpPr txBox="1"/>
          <p:nvPr/>
        </p:nvSpPr>
        <p:spPr>
          <a:xfrm>
            <a:off x="914400" y="3797300"/>
            <a:ext cx="2095500" cy="60016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Register, report with location/photos, track, reopen and rate.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12F6F2-1A0F-20EC-BFB0-4BC84F796003}"/>
              </a:ext>
            </a:extLst>
          </p:cNvPr>
          <p:cNvSpPr/>
          <p:nvPr/>
        </p:nvSpPr>
        <p:spPr>
          <a:xfrm>
            <a:off x="34417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AA7CC2-0393-4C48-DEB8-78FCD1B58220}"/>
              </a:ext>
            </a:extLst>
          </p:cNvPr>
          <p:cNvSpPr txBox="1"/>
          <p:nvPr/>
        </p:nvSpPr>
        <p:spPr>
          <a:xfrm>
            <a:off x="36703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B16C2-E604-0F4E-E2D1-0F6C31E4187D}"/>
              </a:ext>
            </a:extLst>
          </p:cNvPr>
          <p:cNvSpPr txBox="1"/>
          <p:nvPr/>
        </p:nvSpPr>
        <p:spPr>
          <a:xfrm>
            <a:off x="36703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Officer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D1A5DE-4225-A46F-B8F1-9E9FBA988EB3}"/>
              </a:ext>
            </a:extLst>
          </p:cNvPr>
          <p:cNvSpPr txBox="1"/>
          <p:nvPr/>
        </p:nvSpPr>
        <p:spPr>
          <a:xfrm>
            <a:off x="3670300" y="3797300"/>
            <a:ext cx="2095500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Acknowledge, resolve, transfer, verify and view reports.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6F1673-6F46-C512-D449-59BE975C0CD4}"/>
              </a:ext>
            </a:extLst>
          </p:cNvPr>
          <p:cNvSpPr/>
          <p:nvPr/>
        </p:nvSpPr>
        <p:spPr>
          <a:xfrm>
            <a:off x="61976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E58995-4048-7E42-C3AB-D2B069FEAC28}"/>
              </a:ext>
            </a:extLst>
          </p:cNvPr>
          <p:cNvSpPr txBox="1"/>
          <p:nvPr/>
        </p:nvSpPr>
        <p:spPr>
          <a:xfrm>
            <a:off x="64262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BCE72D-65B2-F62F-DD70-51B8A616E097}"/>
              </a:ext>
            </a:extLst>
          </p:cNvPr>
          <p:cNvSpPr txBox="1"/>
          <p:nvPr/>
        </p:nvSpPr>
        <p:spPr>
          <a:xfrm>
            <a:off x="64262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Surveyor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0FE7D1-1398-2771-2C14-A26DA1741630}"/>
              </a:ext>
            </a:extLst>
          </p:cNvPr>
          <p:cNvSpPr txBox="1"/>
          <p:nvPr/>
        </p:nvSpPr>
        <p:spPr>
          <a:xfrm>
            <a:off x="6426200" y="3797300"/>
            <a:ext cx="2095500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Capture department-wise village assets with GIS evidence.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296384-00E6-6147-CC07-B131F302B130}"/>
              </a:ext>
            </a:extLst>
          </p:cNvPr>
          <p:cNvSpPr/>
          <p:nvPr/>
        </p:nvSpPr>
        <p:spPr>
          <a:xfrm>
            <a:off x="89535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567B14-9A88-51A3-9165-8C6FC453DD5A}"/>
              </a:ext>
            </a:extLst>
          </p:cNvPr>
          <p:cNvSpPr txBox="1"/>
          <p:nvPr/>
        </p:nvSpPr>
        <p:spPr>
          <a:xfrm>
            <a:off x="91821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9512D4-0005-1FC8-457A-87C6FD65DBC7}"/>
              </a:ext>
            </a:extLst>
          </p:cNvPr>
          <p:cNvSpPr txBox="1"/>
          <p:nvPr/>
        </p:nvSpPr>
        <p:spPr>
          <a:xfrm>
            <a:off x="91821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Secure Access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8F6FAD-FDFF-A5B5-5FFD-67A0653F1DCE}"/>
              </a:ext>
            </a:extLst>
          </p:cNvPr>
          <p:cNvSpPr txBox="1"/>
          <p:nvPr/>
        </p:nvSpPr>
        <p:spPr>
          <a:xfrm>
            <a:off x="9182100" y="3797300"/>
            <a:ext cx="2095500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OTP, approval and role-aware sessions.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63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C98B53-0237-82E8-DD14-FAD67B76EEE7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94152A-EAC6-69C1-F7ED-139BE0C53C9D}"/>
              </a:ext>
            </a:extLst>
          </p:cNvPr>
          <p:cNvSpPr txBox="1"/>
          <p:nvPr/>
        </p:nvSpPr>
        <p:spPr>
          <a:xfrm>
            <a:off x="685800" y="444500"/>
            <a:ext cx="6350000" cy="24622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000" b="1">
                <a:solidFill>
                  <a:srgbClr val="C68AE0"/>
                </a:solidFill>
                <a:latin typeface="Aptos" panose="020B0004020202020204" pitchFamily="34" charset="0"/>
              </a:rPr>
              <a:t>04  /  ADMIN PANEL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9B14B1-D50F-65E8-7A24-90369032CDE2}"/>
              </a:ext>
            </a:extLst>
          </p:cNvPr>
          <p:cNvSpPr txBox="1"/>
          <p:nvPr/>
        </p:nvSpPr>
        <p:spPr>
          <a:xfrm>
            <a:off x="685800" y="863600"/>
            <a:ext cx="10795000" cy="5539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3000" b="1">
                <a:solidFill>
                  <a:srgbClr val="262319"/>
                </a:solidFill>
                <a:latin typeface="Aptos Display" panose="020B0004020202020204" pitchFamily="34" charset="0"/>
              </a:rPr>
              <a:t>Control room for Panchayat operations</a:t>
            </a:r>
            <a:endParaRPr lang="en-IN" sz="3000" b="1">
              <a:solidFill>
                <a:srgbClr val="262319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602E8-AF2D-8AD9-C0C2-50779693E033}"/>
              </a:ext>
            </a:extLst>
          </p:cNvPr>
          <p:cNvSpPr txBox="1"/>
          <p:nvPr/>
        </p:nvSpPr>
        <p:spPr>
          <a:xfrm>
            <a:off x="685800" y="1676400"/>
            <a:ext cx="10668000" cy="29238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300">
                <a:solidFill>
                  <a:srgbClr val="7B7574"/>
                </a:solidFill>
                <a:latin typeface="Aptos" panose="020B0004020202020204" pitchFamily="34" charset="0"/>
              </a:rPr>
              <a:t>A role-aware management surface for day-to-day governance.</a:t>
            </a:r>
            <a:endParaRPr lang="en-IN" sz="13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EA33D2-466C-02F9-9FEA-2E11D250A163}"/>
              </a:ext>
            </a:extLst>
          </p:cNvPr>
          <p:cNvSpPr/>
          <p:nvPr/>
        </p:nvSpPr>
        <p:spPr>
          <a:xfrm>
            <a:off x="685800" y="2730500"/>
            <a:ext cx="3471333" cy="2641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5A1846-388B-CD7F-79B4-5BF0BD7EC44E}"/>
              </a:ext>
            </a:extLst>
          </p:cNvPr>
          <p:cNvSpPr txBox="1"/>
          <p:nvPr/>
        </p:nvSpPr>
        <p:spPr>
          <a:xfrm>
            <a:off x="914400" y="2959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4110A-2A04-32C6-3036-FE55C7957DC2}"/>
              </a:ext>
            </a:extLst>
          </p:cNvPr>
          <p:cNvSpPr txBox="1"/>
          <p:nvPr/>
        </p:nvSpPr>
        <p:spPr>
          <a:xfrm>
            <a:off x="914400" y="3390900"/>
            <a:ext cx="3014133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D86AB-0273-DD49-EAE3-F1757F4E898B}"/>
              </a:ext>
            </a:extLst>
          </p:cNvPr>
          <p:cNvSpPr txBox="1"/>
          <p:nvPr/>
        </p:nvSpPr>
        <p:spPr>
          <a:xfrm>
            <a:off x="914400" y="3924300"/>
            <a:ext cx="3014133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Dashboard, complaints, reports and survey queues.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BA3EC52-74F7-33D0-8FA7-6E3B67AC400A}"/>
              </a:ext>
            </a:extLst>
          </p:cNvPr>
          <p:cNvSpPr/>
          <p:nvPr/>
        </p:nvSpPr>
        <p:spPr>
          <a:xfrm>
            <a:off x="4360333" y="2730500"/>
            <a:ext cx="3471334" cy="2641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3B0D1E-21B7-6E13-D2BA-D7C0B91ACC27}"/>
              </a:ext>
            </a:extLst>
          </p:cNvPr>
          <p:cNvSpPr txBox="1"/>
          <p:nvPr/>
        </p:nvSpPr>
        <p:spPr>
          <a:xfrm>
            <a:off x="4588933" y="2959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133C6E-1E9C-D02F-0BA3-AF4EAB7C1880}"/>
              </a:ext>
            </a:extLst>
          </p:cNvPr>
          <p:cNvSpPr txBox="1"/>
          <p:nvPr/>
        </p:nvSpPr>
        <p:spPr>
          <a:xfrm>
            <a:off x="4588933" y="3390900"/>
            <a:ext cx="3014133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Assets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94F8CB-DD64-6C41-04AC-8A95434D83F3}"/>
              </a:ext>
            </a:extLst>
          </p:cNvPr>
          <p:cNvSpPr txBox="1"/>
          <p:nvPr/>
        </p:nvSpPr>
        <p:spPr>
          <a:xfrm>
            <a:off x="4588933" y="3924300"/>
            <a:ext cx="3014133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GIS village assets, asset types and field submissions.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1976E48-FF51-08E2-A32C-903FE40E3113}"/>
              </a:ext>
            </a:extLst>
          </p:cNvPr>
          <p:cNvSpPr/>
          <p:nvPr/>
        </p:nvSpPr>
        <p:spPr>
          <a:xfrm>
            <a:off x="8034867" y="2730500"/>
            <a:ext cx="3471333" cy="2641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A18AA3-75D0-F1CE-5B5B-85231CB98D10}"/>
              </a:ext>
            </a:extLst>
          </p:cNvPr>
          <p:cNvSpPr txBox="1"/>
          <p:nvPr/>
        </p:nvSpPr>
        <p:spPr>
          <a:xfrm>
            <a:off x="8263467" y="2959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BC6C08-6C24-1C71-F9FA-B340E12BFC32}"/>
              </a:ext>
            </a:extLst>
          </p:cNvPr>
          <p:cNvSpPr txBox="1"/>
          <p:nvPr/>
        </p:nvSpPr>
        <p:spPr>
          <a:xfrm>
            <a:off x="8263467" y="3390900"/>
            <a:ext cx="3014133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Governance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22E8E5-E329-8EAB-47D7-4C8BD5642158}"/>
              </a:ext>
            </a:extLst>
          </p:cNvPr>
          <p:cNvSpPr txBox="1"/>
          <p:nvPr/>
        </p:nvSpPr>
        <p:spPr>
          <a:xfrm>
            <a:off x="8263467" y="3924300"/>
            <a:ext cx="3014133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Masters, users, citizens, roles and permissions.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038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B775C0-CBCF-AF84-2856-515AB13BB930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65948A-DBA4-F9BB-AB78-97062B3A7CC2}"/>
              </a:ext>
            </a:extLst>
          </p:cNvPr>
          <p:cNvSpPr txBox="1"/>
          <p:nvPr/>
        </p:nvSpPr>
        <p:spPr>
          <a:xfrm>
            <a:off x="685800" y="444500"/>
            <a:ext cx="6350000" cy="24622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000" b="1">
                <a:solidFill>
                  <a:srgbClr val="C68AE0"/>
                </a:solidFill>
                <a:latin typeface="Aptos" panose="020B0004020202020204" pitchFamily="34" charset="0"/>
              </a:rPr>
              <a:t>05  /  COMPLAINT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39A75F-F566-6B01-6C63-2993C9B41704}"/>
              </a:ext>
            </a:extLst>
          </p:cNvPr>
          <p:cNvSpPr txBox="1"/>
          <p:nvPr/>
        </p:nvSpPr>
        <p:spPr>
          <a:xfrm>
            <a:off x="685800" y="863600"/>
            <a:ext cx="10795000" cy="5539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3000" b="1">
                <a:solidFill>
                  <a:srgbClr val="262319"/>
                </a:solidFill>
                <a:latin typeface="Aptos Display" panose="020B0004020202020204" pitchFamily="34" charset="0"/>
              </a:rPr>
              <a:t>Complaint to resolution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39BFF-7194-ABEC-79F4-A05CE1DEE10B}"/>
              </a:ext>
            </a:extLst>
          </p:cNvPr>
          <p:cNvSpPr txBox="1"/>
          <p:nvPr/>
        </p:nvSpPr>
        <p:spPr>
          <a:xfrm>
            <a:off x="685800" y="1676400"/>
            <a:ext cx="10668000" cy="29238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300">
                <a:solidFill>
                  <a:srgbClr val="7B7574"/>
                </a:solidFill>
                <a:latin typeface="Aptos" panose="020B0004020202020204" pitchFamily="34" charset="0"/>
              </a:rPr>
              <a:t>Every step carries ownership, evidence and status.</a:t>
            </a:r>
            <a:endParaRPr lang="en-IN" sz="13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7115B3-2482-A42C-1B6E-D23ABEF6CAD0}"/>
              </a:ext>
            </a:extLst>
          </p:cNvPr>
          <p:cNvSpPr/>
          <p:nvPr/>
        </p:nvSpPr>
        <p:spPr>
          <a:xfrm>
            <a:off x="685800" y="2844800"/>
            <a:ext cx="20320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E88AD1-0DD9-48A2-C854-B819D691C07C}"/>
              </a:ext>
            </a:extLst>
          </p:cNvPr>
          <p:cNvSpPr/>
          <p:nvPr/>
        </p:nvSpPr>
        <p:spPr>
          <a:xfrm>
            <a:off x="889000" y="3048000"/>
            <a:ext cx="355600" cy="355600"/>
          </a:xfrm>
          <a:prstGeom prst="round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E2DC53-BFCA-F7A7-7A6A-033BE104B103}"/>
              </a:ext>
            </a:extLst>
          </p:cNvPr>
          <p:cNvSpPr txBox="1"/>
          <p:nvPr/>
        </p:nvSpPr>
        <p:spPr>
          <a:xfrm>
            <a:off x="889000" y="3581400"/>
            <a:ext cx="1625600" cy="33855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600" b="1">
                <a:solidFill>
                  <a:srgbClr val="262319"/>
                </a:solidFill>
                <a:latin typeface="Aptos" panose="020B0004020202020204" pitchFamily="34" charset="0"/>
              </a:rPr>
              <a:t>Report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D79302-E6A4-E3E7-96C7-84F8CAF32B21}"/>
              </a:ext>
            </a:extLst>
          </p:cNvPr>
          <p:cNvSpPr txBox="1"/>
          <p:nvPr/>
        </p:nvSpPr>
        <p:spPr>
          <a:xfrm>
            <a:off x="889000" y="4089400"/>
            <a:ext cx="1625600" cy="5539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000">
                <a:solidFill>
                  <a:srgbClr val="7B7574"/>
                </a:solidFill>
                <a:latin typeface="Aptos" panose="020B0004020202020204" pitchFamily="34" charset="0"/>
              </a:rPr>
              <a:t>Citizen adds category, location, description and evidence.</a:t>
            </a:r>
            <a:endParaRPr lang="en-IN" sz="10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DFF84E-75BF-CF00-EDA4-BED3A300077B}"/>
              </a:ext>
            </a:extLst>
          </p:cNvPr>
          <p:cNvSpPr txBox="1"/>
          <p:nvPr/>
        </p:nvSpPr>
        <p:spPr>
          <a:xfrm>
            <a:off x="2743200" y="3886200"/>
            <a:ext cx="228600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b="1">
                <a:solidFill>
                  <a:srgbClr val="C68AE0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AE5E17-D565-F409-9385-D61827D6D194}"/>
              </a:ext>
            </a:extLst>
          </p:cNvPr>
          <p:cNvSpPr/>
          <p:nvPr/>
        </p:nvSpPr>
        <p:spPr>
          <a:xfrm>
            <a:off x="2870200" y="2844800"/>
            <a:ext cx="20320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101D91-44B3-B57A-198D-626C3E8B1F04}"/>
              </a:ext>
            </a:extLst>
          </p:cNvPr>
          <p:cNvSpPr/>
          <p:nvPr/>
        </p:nvSpPr>
        <p:spPr>
          <a:xfrm>
            <a:off x="3073400" y="3048000"/>
            <a:ext cx="355600" cy="355600"/>
          </a:xfrm>
          <a:prstGeom prst="round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6D5550-FE87-B9C7-CEE2-EE543401C9E0}"/>
              </a:ext>
            </a:extLst>
          </p:cNvPr>
          <p:cNvSpPr txBox="1"/>
          <p:nvPr/>
        </p:nvSpPr>
        <p:spPr>
          <a:xfrm>
            <a:off x="3073400" y="3581400"/>
            <a:ext cx="1625600" cy="33855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600" b="1">
                <a:solidFill>
                  <a:srgbClr val="262319"/>
                </a:solidFill>
                <a:latin typeface="Aptos" panose="020B0004020202020204" pitchFamily="34" charset="0"/>
              </a:rPr>
              <a:t>Acknowledge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1C39EB-CBF3-3ACC-0FAD-FF294820D229}"/>
              </a:ext>
            </a:extLst>
          </p:cNvPr>
          <p:cNvSpPr txBox="1"/>
          <p:nvPr/>
        </p:nvSpPr>
        <p:spPr>
          <a:xfrm>
            <a:off x="3073400" y="4089400"/>
            <a:ext cx="1625600" cy="4001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000">
                <a:solidFill>
                  <a:srgbClr val="7B7574"/>
                </a:solidFill>
                <a:latin typeface="Aptos" panose="020B0004020202020204" pitchFamily="34" charset="0"/>
              </a:rPr>
              <a:t>Officer accepts responsibility and begins action.</a:t>
            </a:r>
            <a:endParaRPr lang="en-IN" sz="10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12DFE2-170E-08AB-66E5-8BF3C659EAFF}"/>
              </a:ext>
            </a:extLst>
          </p:cNvPr>
          <p:cNvSpPr txBox="1"/>
          <p:nvPr/>
        </p:nvSpPr>
        <p:spPr>
          <a:xfrm>
            <a:off x="4927600" y="3886200"/>
            <a:ext cx="228600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b="1">
                <a:solidFill>
                  <a:srgbClr val="C68AE0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C8C3262-CCE1-6EFB-E9B6-57BD1073ED69}"/>
              </a:ext>
            </a:extLst>
          </p:cNvPr>
          <p:cNvSpPr/>
          <p:nvPr/>
        </p:nvSpPr>
        <p:spPr>
          <a:xfrm>
            <a:off x="5054600" y="2844800"/>
            <a:ext cx="20320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930DD4A-B0CD-A3E8-488C-C2C23C604D1C}"/>
              </a:ext>
            </a:extLst>
          </p:cNvPr>
          <p:cNvSpPr/>
          <p:nvPr/>
        </p:nvSpPr>
        <p:spPr>
          <a:xfrm>
            <a:off x="5257800" y="3048000"/>
            <a:ext cx="355600" cy="355600"/>
          </a:xfrm>
          <a:prstGeom prst="round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38AA74-3A9A-054C-709A-16AF21F6C554}"/>
              </a:ext>
            </a:extLst>
          </p:cNvPr>
          <p:cNvSpPr txBox="1"/>
          <p:nvPr/>
        </p:nvSpPr>
        <p:spPr>
          <a:xfrm>
            <a:off x="5257800" y="3581400"/>
            <a:ext cx="1625600" cy="33855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600" b="1">
                <a:solidFill>
                  <a:srgbClr val="262319"/>
                </a:solidFill>
                <a:latin typeface="Aptos" panose="020B0004020202020204" pitchFamily="34" charset="0"/>
              </a:rPr>
              <a:t>Resolve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390A3F-F6B9-D8CE-12AA-7377B348AC6F}"/>
              </a:ext>
            </a:extLst>
          </p:cNvPr>
          <p:cNvSpPr txBox="1"/>
          <p:nvPr/>
        </p:nvSpPr>
        <p:spPr>
          <a:xfrm>
            <a:off x="5257800" y="4089400"/>
            <a:ext cx="1625600" cy="4001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000">
                <a:solidFill>
                  <a:srgbClr val="7B7574"/>
                </a:solidFill>
                <a:latin typeface="Aptos" panose="020B0004020202020204" pitchFamily="34" charset="0"/>
              </a:rPr>
              <a:t>Action taken, notes and proof are recorded.</a:t>
            </a:r>
            <a:endParaRPr lang="en-IN" sz="10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A04549-E39C-ECC0-9684-89B0EE1C7152}"/>
              </a:ext>
            </a:extLst>
          </p:cNvPr>
          <p:cNvSpPr txBox="1"/>
          <p:nvPr/>
        </p:nvSpPr>
        <p:spPr>
          <a:xfrm>
            <a:off x="7112000" y="3886200"/>
            <a:ext cx="228600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b="1">
                <a:solidFill>
                  <a:srgbClr val="C68AE0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D5F303F-EF21-613A-6EE2-837607C8DC0D}"/>
              </a:ext>
            </a:extLst>
          </p:cNvPr>
          <p:cNvSpPr/>
          <p:nvPr/>
        </p:nvSpPr>
        <p:spPr>
          <a:xfrm>
            <a:off x="7239000" y="2844800"/>
            <a:ext cx="20320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42530F-BC63-F6BF-5479-176BA95F5F1D}"/>
              </a:ext>
            </a:extLst>
          </p:cNvPr>
          <p:cNvSpPr/>
          <p:nvPr/>
        </p:nvSpPr>
        <p:spPr>
          <a:xfrm>
            <a:off x="7442200" y="3048000"/>
            <a:ext cx="355600" cy="355600"/>
          </a:xfrm>
          <a:prstGeom prst="round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895F35-9B4D-B86E-1F52-98AB3B837B4A}"/>
              </a:ext>
            </a:extLst>
          </p:cNvPr>
          <p:cNvSpPr txBox="1"/>
          <p:nvPr/>
        </p:nvSpPr>
        <p:spPr>
          <a:xfrm>
            <a:off x="7442200" y="3581400"/>
            <a:ext cx="1625600" cy="33855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600" b="1">
                <a:solidFill>
                  <a:srgbClr val="262319"/>
                </a:solidFill>
                <a:latin typeface="Aptos" panose="020B0004020202020204" pitchFamily="34" charset="0"/>
              </a:rPr>
              <a:t>Verify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9FCC0B-9CAA-C17F-2FFF-60BA33E43035}"/>
              </a:ext>
            </a:extLst>
          </p:cNvPr>
          <p:cNvSpPr txBox="1"/>
          <p:nvPr/>
        </p:nvSpPr>
        <p:spPr>
          <a:xfrm>
            <a:off x="7442200" y="4089400"/>
            <a:ext cx="1625600" cy="4001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000">
                <a:solidFill>
                  <a:srgbClr val="7B7574"/>
                </a:solidFill>
                <a:latin typeface="Aptos" panose="020B0004020202020204" pitchFamily="34" charset="0"/>
              </a:rPr>
              <a:t>Outcome is reviewed or complaint is reopened.</a:t>
            </a:r>
            <a:endParaRPr lang="en-IN" sz="10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3F2033-2679-E954-1306-2C3DD234EE5D}"/>
              </a:ext>
            </a:extLst>
          </p:cNvPr>
          <p:cNvSpPr txBox="1"/>
          <p:nvPr/>
        </p:nvSpPr>
        <p:spPr>
          <a:xfrm>
            <a:off x="9296400" y="3886200"/>
            <a:ext cx="228600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b="1">
                <a:solidFill>
                  <a:srgbClr val="C68AE0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AFDC514-A95C-09A9-D9AF-3658F033C740}"/>
              </a:ext>
            </a:extLst>
          </p:cNvPr>
          <p:cNvSpPr/>
          <p:nvPr/>
        </p:nvSpPr>
        <p:spPr>
          <a:xfrm>
            <a:off x="9423400" y="2844800"/>
            <a:ext cx="20320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162A3CF-4BAE-03BD-85C5-A73CCBDB1893}"/>
              </a:ext>
            </a:extLst>
          </p:cNvPr>
          <p:cNvSpPr/>
          <p:nvPr/>
        </p:nvSpPr>
        <p:spPr>
          <a:xfrm>
            <a:off x="9626600" y="3048000"/>
            <a:ext cx="355600" cy="355600"/>
          </a:xfrm>
          <a:prstGeom prst="round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274A43-B860-F119-05FD-0249C3F50CFB}"/>
              </a:ext>
            </a:extLst>
          </p:cNvPr>
          <p:cNvSpPr txBox="1"/>
          <p:nvPr/>
        </p:nvSpPr>
        <p:spPr>
          <a:xfrm>
            <a:off x="9626600" y="3581400"/>
            <a:ext cx="1625600" cy="33855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600" b="1">
                <a:solidFill>
                  <a:srgbClr val="262319"/>
                </a:solidFill>
                <a:latin typeface="Aptos" panose="020B0004020202020204" pitchFamily="34" charset="0"/>
              </a:rPr>
              <a:t>Measure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29F5CF-50E6-2E6B-2901-AE23CDAD073D}"/>
              </a:ext>
            </a:extLst>
          </p:cNvPr>
          <p:cNvSpPr txBox="1"/>
          <p:nvPr/>
        </p:nvSpPr>
        <p:spPr>
          <a:xfrm>
            <a:off x="9626600" y="4089400"/>
            <a:ext cx="1625600" cy="4001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000">
                <a:solidFill>
                  <a:srgbClr val="7B7574"/>
                </a:solidFill>
                <a:latin typeface="Aptos" panose="020B0004020202020204" pitchFamily="34" charset="0"/>
              </a:rPr>
              <a:t>Citizen rating and reports improve service.</a:t>
            </a:r>
            <a:endParaRPr lang="en-IN" sz="10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560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B9E1AA-9636-88A0-36C7-6BAA205ACEC5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A0677-52E6-BF20-E5B9-B6DF39A79830}"/>
              </a:ext>
            </a:extLst>
          </p:cNvPr>
          <p:cNvSpPr txBox="1"/>
          <p:nvPr/>
        </p:nvSpPr>
        <p:spPr>
          <a:xfrm>
            <a:off x="685800" y="444500"/>
            <a:ext cx="6350000" cy="24622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000" b="1">
                <a:solidFill>
                  <a:srgbClr val="C68AE0"/>
                </a:solidFill>
                <a:latin typeface="Aptos" panose="020B0004020202020204" pitchFamily="34" charset="0"/>
              </a:rPr>
              <a:t>06  /  ASSET SURVEY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04297C-51E8-A6CD-05E8-2F33BC136067}"/>
              </a:ext>
            </a:extLst>
          </p:cNvPr>
          <p:cNvSpPr txBox="1"/>
          <p:nvPr/>
        </p:nvSpPr>
        <p:spPr>
          <a:xfrm>
            <a:off x="685800" y="863600"/>
            <a:ext cx="10795000" cy="5539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3000" b="1">
                <a:solidFill>
                  <a:srgbClr val="262319"/>
                </a:solidFill>
                <a:latin typeface="Aptos Display" panose="020B0004020202020204" pitchFamily="34" charset="0"/>
              </a:rPr>
              <a:t>Field survey to verified asset</a:t>
            </a:r>
            <a:endParaRPr lang="en-IN" sz="3000" b="1">
              <a:solidFill>
                <a:srgbClr val="262319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7D491F-8755-EC85-8C70-930FCBF4931F}"/>
              </a:ext>
            </a:extLst>
          </p:cNvPr>
          <p:cNvSpPr txBox="1"/>
          <p:nvPr/>
        </p:nvSpPr>
        <p:spPr>
          <a:xfrm>
            <a:off x="685800" y="1676400"/>
            <a:ext cx="10668000" cy="29238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300">
                <a:solidFill>
                  <a:srgbClr val="7B7574"/>
                </a:solidFill>
                <a:latin typeface="Aptos" panose="020B0004020202020204" pitchFamily="34" charset="0"/>
              </a:rPr>
              <a:t>GIS evidence moves from mobile capture to admin review.</a:t>
            </a:r>
            <a:endParaRPr lang="en-IN" sz="13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D22266-E79A-3A92-6C5B-9644C9ED40D5}"/>
              </a:ext>
            </a:extLst>
          </p:cNvPr>
          <p:cNvSpPr/>
          <p:nvPr/>
        </p:nvSpPr>
        <p:spPr>
          <a:xfrm>
            <a:off x="685800" y="2844800"/>
            <a:ext cx="20320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4C8753-8BCB-026D-8ED0-7B474B0AB71E}"/>
              </a:ext>
            </a:extLst>
          </p:cNvPr>
          <p:cNvSpPr/>
          <p:nvPr/>
        </p:nvSpPr>
        <p:spPr>
          <a:xfrm>
            <a:off x="889000" y="3048000"/>
            <a:ext cx="355600" cy="355600"/>
          </a:xfrm>
          <a:prstGeom prst="round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6C2D72-27D5-76D4-B9ED-0AEDA3EF9D19}"/>
              </a:ext>
            </a:extLst>
          </p:cNvPr>
          <p:cNvSpPr txBox="1"/>
          <p:nvPr/>
        </p:nvSpPr>
        <p:spPr>
          <a:xfrm>
            <a:off x="889000" y="3581400"/>
            <a:ext cx="1625600" cy="33855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600" b="1">
                <a:solidFill>
                  <a:srgbClr val="262319"/>
                </a:solidFill>
                <a:latin typeface="Aptos" panose="020B0004020202020204" pitchFamily="34" charset="0"/>
              </a:rPr>
              <a:t>Configure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1FCAC-0DF5-AD6C-0DA4-62DAB885696E}"/>
              </a:ext>
            </a:extLst>
          </p:cNvPr>
          <p:cNvSpPr txBox="1"/>
          <p:nvPr/>
        </p:nvSpPr>
        <p:spPr>
          <a:xfrm>
            <a:off x="889000" y="4089400"/>
            <a:ext cx="1625600" cy="4001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000">
                <a:solidFill>
                  <a:srgbClr val="7B7574"/>
                </a:solidFill>
                <a:latin typeface="Aptos" panose="020B0004020202020204" pitchFamily="34" charset="0"/>
              </a:rPr>
              <a:t>Admin maps departments, surveyors and asset types.</a:t>
            </a:r>
            <a:endParaRPr lang="en-IN" sz="10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42A71B-B21F-BD6A-FEB6-72956563A657}"/>
              </a:ext>
            </a:extLst>
          </p:cNvPr>
          <p:cNvSpPr txBox="1"/>
          <p:nvPr/>
        </p:nvSpPr>
        <p:spPr>
          <a:xfrm>
            <a:off x="2743200" y="3886200"/>
            <a:ext cx="228600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b="1">
                <a:solidFill>
                  <a:srgbClr val="C68AE0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51D014-5D48-903E-46C9-20EE9BB4A853}"/>
              </a:ext>
            </a:extLst>
          </p:cNvPr>
          <p:cNvSpPr/>
          <p:nvPr/>
        </p:nvSpPr>
        <p:spPr>
          <a:xfrm>
            <a:off x="2870200" y="2844800"/>
            <a:ext cx="20320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DD5BE1-0EA1-2C07-09C0-17630D4AE4F8}"/>
              </a:ext>
            </a:extLst>
          </p:cNvPr>
          <p:cNvSpPr/>
          <p:nvPr/>
        </p:nvSpPr>
        <p:spPr>
          <a:xfrm>
            <a:off x="3073400" y="3048000"/>
            <a:ext cx="355600" cy="355600"/>
          </a:xfrm>
          <a:prstGeom prst="round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D72D68-BACE-2B0C-B1C8-F1FF0D0B4267}"/>
              </a:ext>
            </a:extLst>
          </p:cNvPr>
          <p:cNvSpPr txBox="1"/>
          <p:nvPr/>
        </p:nvSpPr>
        <p:spPr>
          <a:xfrm>
            <a:off x="3073400" y="3581400"/>
            <a:ext cx="1625600" cy="33855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600" b="1">
                <a:solidFill>
                  <a:srgbClr val="262319"/>
                </a:solidFill>
                <a:latin typeface="Aptos" panose="020B0004020202020204" pitchFamily="34" charset="0"/>
              </a:rPr>
              <a:t>Assign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09C2C8-D826-4502-FD59-54D2AAB4D568}"/>
              </a:ext>
            </a:extLst>
          </p:cNvPr>
          <p:cNvSpPr txBox="1"/>
          <p:nvPr/>
        </p:nvSpPr>
        <p:spPr>
          <a:xfrm>
            <a:off x="3073400" y="4089400"/>
            <a:ext cx="1625600" cy="4001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000">
                <a:solidFill>
                  <a:srgbClr val="7B7574"/>
                </a:solidFill>
                <a:latin typeface="Aptos" panose="020B0004020202020204" pitchFamily="34" charset="0"/>
              </a:rPr>
              <a:t>Responsibility becomes visible in the app.</a:t>
            </a:r>
            <a:endParaRPr lang="en-IN" sz="10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00A871-217C-777C-219C-05191D9AB3EF}"/>
              </a:ext>
            </a:extLst>
          </p:cNvPr>
          <p:cNvSpPr txBox="1"/>
          <p:nvPr/>
        </p:nvSpPr>
        <p:spPr>
          <a:xfrm>
            <a:off x="4927600" y="3886200"/>
            <a:ext cx="228600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b="1">
                <a:solidFill>
                  <a:srgbClr val="C68AE0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24D956-0333-1878-DE76-7339F47F711C}"/>
              </a:ext>
            </a:extLst>
          </p:cNvPr>
          <p:cNvSpPr/>
          <p:nvPr/>
        </p:nvSpPr>
        <p:spPr>
          <a:xfrm>
            <a:off x="5054600" y="2844800"/>
            <a:ext cx="20320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8DEAAD1-ED4D-045A-EDEA-ED85F4302443}"/>
              </a:ext>
            </a:extLst>
          </p:cNvPr>
          <p:cNvSpPr/>
          <p:nvPr/>
        </p:nvSpPr>
        <p:spPr>
          <a:xfrm>
            <a:off x="5257800" y="3048000"/>
            <a:ext cx="355600" cy="355600"/>
          </a:xfrm>
          <a:prstGeom prst="round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D9E00B-A988-C0AD-0E6C-68E17190D4AF}"/>
              </a:ext>
            </a:extLst>
          </p:cNvPr>
          <p:cNvSpPr txBox="1"/>
          <p:nvPr/>
        </p:nvSpPr>
        <p:spPr>
          <a:xfrm>
            <a:off x="5257800" y="3581400"/>
            <a:ext cx="1625600" cy="33855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600" b="1">
                <a:solidFill>
                  <a:srgbClr val="262319"/>
                </a:solidFill>
                <a:latin typeface="Aptos" panose="020B0004020202020204" pitchFamily="34" charset="0"/>
              </a:rPr>
              <a:t>Capture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F6B29B-8121-D04C-4FA5-337CB7503BF8}"/>
              </a:ext>
            </a:extLst>
          </p:cNvPr>
          <p:cNvSpPr txBox="1"/>
          <p:nvPr/>
        </p:nvSpPr>
        <p:spPr>
          <a:xfrm>
            <a:off x="5257800" y="4089400"/>
            <a:ext cx="1625600" cy="4001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000">
                <a:solidFill>
                  <a:srgbClr val="7B7574"/>
                </a:solidFill>
                <a:latin typeface="Aptos" panose="020B0004020202020204" pitchFamily="34" charset="0"/>
              </a:rPr>
              <a:t>Surveyor records position, details and photos.</a:t>
            </a:r>
            <a:endParaRPr lang="en-IN" sz="10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EA6D2E-8B4D-3794-9161-5DA7E709D54C}"/>
              </a:ext>
            </a:extLst>
          </p:cNvPr>
          <p:cNvSpPr txBox="1"/>
          <p:nvPr/>
        </p:nvSpPr>
        <p:spPr>
          <a:xfrm>
            <a:off x="7112000" y="3886200"/>
            <a:ext cx="228600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b="1">
                <a:solidFill>
                  <a:srgbClr val="C68AE0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ECFD75A-BAF3-3012-76A1-A266DEBF4B27}"/>
              </a:ext>
            </a:extLst>
          </p:cNvPr>
          <p:cNvSpPr/>
          <p:nvPr/>
        </p:nvSpPr>
        <p:spPr>
          <a:xfrm>
            <a:off x="7239000" y="2844800"/>
            <a:ext cx="20320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8B2178D-8331-7B54-2427-CFDF65C391EF}"/>
              </a:ext>
            </a:extLst>
          </p:cNvPr>
          <p:cNvSpPr/>
          <p:nvPr/>
        </p:nvSpPr>
        <p:spPr>
          <a:xfrm>
            <a:off x="7442200" y="3048000"/>
            <a:ext cx="355600" cy="355600"/>
          </a:xfrm>
          <a:prstGeom prst="round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224101-BDE6-632A-1D65-0E4F883F3890}"/>
              </a:ext>
            </a:extLst>
          </p:cNvPr>
          <p:cNvSpPr txBox="1"/>
          <p:nvPr/>
        </p:nvSpPr>
        <p:spPr>
          <a:xfrm>
            <a:off x="7442200" y="3581400"/>
            <a:ext cx="1625600" cy="33855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600" b="1">
                <a:solidFill>
                  <a:srgbClr val="262319"/>
                </a:solidFill>
                <a:latin typeface="Aptos" panose="020B0004020202020204" pitchFamily="34" charset="0"/>
              </a:rPr>
              <a:t>Review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631A0A-8250-BF68-77CB-B66D7BB4DBA5}"/>
              </a:ext>
            </a:extLst>
          </p:cNvPr>
          <p:cNvSpPr txBox="1"/>
          <p:nvPr/>
        </p:nvSpPr>
        <p:spPr>
          <a:xfrm>
            <a:off x="7442200" y="4089400"/>
            <a:ext cx="1625600" cy="4001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000">
                <a:solidFill>
                  <a:srgbClr val="7B7574"/>
                </a:solidFill>
                <a:latin typeface="Aptos" panose="020B0004020202020204" pitchFamily="34" charset="0"/>
              </a:rPr>
              <a:t>Admin checks evidence and submission quality.</a:t>
            </a:r>
            <a:endParaRPr lang="en-IN" sz="10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0A66A5-0F3D-49B8-6E3D-721A0BCB22F5}"/>
              </a:ext>
            </a:extLst>
          </p:cNvPr>
          <p:cNvSpPr txBox="1"/>
          <p:nvPr/>
        </p:nvSpPr>
        <p:spPr>
          <a:xfrm>
            <a:off x="9296400" y="3886200"/>
            <a:ext cx="228600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b="1">
                <a:solidFill>
                  <a:srgbClr val="C68AE0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292C30F-FE15-ED5E-EEE9-4AA019FB35E4}"/>
              </a:ext>
            </a:extLst>
          </p:cNvPr>
          <p:cNvSpPr/>
          <p:nvPr/>
        </p:nvSpPr>
        <p:spPr>
          <a:xfrm>
            <a:off x="9423400" y="2844800"/>
            <a:ext cx="20320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0FB91B7-88D6-31EB-18D8-7CDFA1B11CAE}"/>
              </a:ext>
            </a:extLst>
          </p:cNvPr>
          <p:cNvSpPr/>
          <p:nvPr/>
        </p:nvSpPr>
        <p:spPr>
          <a:xfrm>
            <a:off x="9626600" y="3048000"/>
            <a:ext cx="355600" cy="355600"/>
          </a:xfrm>
          <a:prstGeom prst="round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3097F5-8436-DB24-D684-F472A92AEB90}"/>
              </a:ext>
            </a:extLst>
          </p:cNvPr>
          <p:cNvSpPr txBox="1"/>
          <p:nvPr/>
        </p:nvSpPr>
        <p:spPr>
          <a:xfrm>
            <a:off x="9626600" y="3581400"/>
            <a:ext cx="1625600" cy="33855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600" b="1">
                <a:solidFill>
                  <a:srgbClr val="262319"/>
                </a:solidFill>
                <a:latin typeface="Aptos" panose="020B0004020202020204" pitchFamily="34" charset="0"/>
              </a:rPr>
              <a:t>Publish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801A07-A17F-ED1C-EF69-AF3D95361C06}"/>
              </a:ext>
            </a:extLst>
          </p:cNvPr>
          <p:cNvSpPr txBox="1"/>
          <p:nvPr/>
        </p:nvSpPr>
        <p:spPr>
          <a:xfrm>
            <a:off x="9626600" y="4089400"/>
            <a:ext cx="1625600" cy="4001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000">
                <a:solidFill>
                  <a:srgbClr val="7B7574"/>
                </a:solidFill>
                <a:latin typeface="Aptos" panose="020B0004020202020204" pitchFamily="34" charset="0"/>
              </a:rPr>
              <a:t>Approved survey updates village asset records.</a:t>
            </a:r>
          </a:p>
        </p:txBody>
      </p:sp>
    </p:spTree>
    <p:extLst>
      <p:ext uri="{BB962C8B-B14F-4D97-AF65-F5344CB8AC3E}">
        <p14:creationId xmlns:p14="http://schemas.microsoft.com/office/powerpoint/2010/main" val="412558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9334B6-F734-96CC-6548-168497AF89EA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075186-71E0-02AD-81AB-F5FB9E9F7557}"/>
              </a:ext>
            </a:extLst>
          </p:cNvPr>
          <p:cNvSpPr txBox="1"/>
          <p:nvPr/>
        </p:nvSpPr>
        <p:spPr>
          <a:xfrm>
            <a:off x="685800" y="444500"/>
            <a:ext cx="6350000" cy="24622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000" b="1">
                <a:solidFill>
                  <a:srgbClr val="C68AE0"/>
                </a:solidFill>
                <a:latin typeface="Aptos" panose="020B0004020202020204" pitchFamily="34" charset="0"/>
              </a:rPr>
              <a:t>07  /  ROLE &amp; DATA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2B3559-93EE-76AF-8717-1AE2B9A035CD}"/>
              </a:ext>
            </a:extLst>
          </p:cNvPr>
          <p:cNvSpPr txBox="1"/>
          <p:nvPr/>
        </p:nvSpPr>
        <p:spPr>
          <a:xfrm>
            <a:off x="685800" y="863600"/>
            <a:ext cx="10795000" cy="5539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3000" b="1">
                <a:solidFill>
                  <a:srgbClr val="262319"/>
                </a:solidFill>
                <a:latin typeface="Aptos Display" panose="020B0004020202020204" pitchFamily="34" charset="0"/>
              </a:rPr>
              <a:t>Connected ownership across the system</a:t>
            </a:r>
            <a:endParaRPr lang="en-IN" sz="3000" b="1">
              <a:solidFill>
                <a:srgbClr val="262319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94531-F0DA-6A4D-01A7-7CB920A44D1A}"/>
              </a:ext>
            </a:extLst>
          </p:cNvPr>
          <p:cNvSpPr txBox="1"/>
          <p:nvPr/>
        </p:nvSpPr>
        <p:spPr>
          <a:xfrm>
            <a:off x="685800" y="1676400"/>
            <a:ext cx="10668000" cy="29238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300">
                <a:solidFill>
                  <a:srgbClr val="7B7574"/>
                </a:solidFill>
                <a:latin typeface="Aptos" panose="020B0004020202020204" pitchFamily="34" charset="0"/>
              </a:rPr>
              <a:t>Clear hand-offs reduce gaps between reporting and field resolution.</a:t>
            </a:r>
            <a:endParaRPr lang="en-IN" sz="13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7C7FF9-442A-D0BF-88F1-B1D7C677F63F}"/>
              </a:ext>
            </a:extLst>
          </p:cNvPr>
          <p:cNvSpPr/>
          <p:nvPr/>
        </p:nvSpPr>
        <p:spPr>
          <a:xfrm>
            <a:off x="6858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D46F55-784B-04F6-610E-758A9C4D09AB}"/>
              </a:ext>
            </a:extLst>
          </p:cNvPr>
          <p:cNvSpPr txBox="1"/>
          <p:nvPr/>
        </p:nvSpPr>
        <p:spPr>
          <a:xfrm>
            <a:off x="9144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83158-C9BD-04E7-5E5E-071C75395C3F}"/>
              </a:ext>
            </a:extLst>
          </p:cNvPr>
          <p:cNvSpPr txBox="1"/>
          <p:nvPr/>
        </p:nvSpPr>
        <p:spPr>
          <a:xfrm>
            <a:off x="9144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Citizen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2D9831-53C0-A2DF-84AD-E10C94A6AF23}"/>
              </a:ext>
            </a:extLst>
          </p:cNvPr>
          <p:cNvSpPr txBox="1"/>
          <p:nvPr/>
        </p:nvSpPr>
        <p:spPr>
          <a:xfrm>
            <a:off x="914400" y="3797300"/>
            <a:ext cx="2095500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Creates demand and confirms outcome.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E7436D-D518-8897-C5B9-ACCB465B2F74}"/>
              </a:ext>
            </a:extLst>
          </p:cNvPr>
          <p:cNvSpPr/>
          <p:nvPr/>
        </p:nvSpPr>
        <p:spPr>
          <a:xfrm>
            <a:off x="34417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2E2A13-0AD9-02DB-B646-BB6691A543BF}"/>
              </a:ext>
            </a:extLst>
          </p:cNvPr>
          <p:cNvSpPr txBox="1"/>
          <p:nvPr/>
        </p:nvSpPr>
        <p:spPr>
          <a:xfrm>
            <a:off x="36703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FDF4B9-5D04-FA6E-8655-41BEC88F0874}"/>
              </a:ext>
            </a:extLst>
          </p:cNvPr>
          <p:cNvSpPr txBox="1"/>
          <p:nvPr/>
        </p:nvSpPr>
        <p:spPr>
          <a:xfrm>
            <a:off x="36703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Officer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9F8CE0-913A-4D4C-D43C-F8425C206085}"/>
              </a:ext>
            </a:extLst>
          </p:cNvPr>
          <p:cNvSpPr txBox="1"/>
          <p:nvPr/>
        </p:nvSpPr>
        <p:spPr>
          <a:xfrm>
            <a:off x="3670300" y="3797300"/>
            <a:ext cx="2095500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Owns grievance action and resolution evidence.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46941F6-ADC3-959B-E00A-3D2CED08F0D1}"/>
              </a:ext>
            </a:extLst>
          </p:cNvPr>
          <p:cNvSpPr/>
          <p:nvPr/>
        </p:nvSpPr>
        <p:spPr>
          <a:xfrm>
            <a:off x="61976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3556EA-8315-E175-042E-1404023EA050}"/>
              </a:ext>
            </a:extLst>
          </p:cNvPr>
          <p:cNvSpPr txBox="1"/>
          <p:nvPr/>
        </p:nvSpPr>
        <p:spPr>
          <a:xfrm>
            <a:off x="64262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15F03E-A61A-1EE1-2D53-37DFD41CAF03}"/>
              </a:ext>
            </a:extLst>
          </p:cNvPr>
          <p:cNvSpPr txBox="1"/>
          <p:nvPr/>
        </p:nvSpPr>
        <p:spPr>
          <a:xfrm>
            <a:off x="64262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Surveyor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F60CB2-999D-5799-C97D-8F0D00EE99CF}"/>
              </a:ext>
            </a:extLst>
          </p:cNvPr>
          <p:cNvSpPr txBox="1"/>
          <p:nvPr/>
        </p:nvSpPr>
        <p:spPr>
          <a:xfrm>
            <a:off x="6426200" y="3797300"/>
            <a:ext cx="20955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Creates verified field asset data.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1166B1-A746-F40B-33F2-2560B61A05A6}"/>
              </a:ext>
            </a:extLst>
          </p:cNvPr>
          <p:cNvSpPr/>
          <p:nvPr/>
        </p:nvSpPr>
        <p:spPr>
          <a:xfrm>
            <a:off x="89535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51F098-71E7-12E0-25BE-6D1C285BA543}"/>
              </a:ext>
            </a:extLst>
          </p:cNvPr>
          <p:cNvSpPr txBox="1"/>
          <p:nvPr/>
        </p:nvSpPr>
        <p:spPr>
          <a:xfrm>
            <a:off x="91821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A5DB76-C202-80CE-75DD-F0656AAF4C05}"/>
              </a:ext>
            </a:extLst>
          </p:cNvPr>
          <p:cNvSpPr txBox="1"/>
          <p:nvPr/>
        </p:nvSpPr>
        <p:spPr>
          <a:xfrm>
            <a:off x="91821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Admin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F3DFC2-3851-59FA-F05E-A202FEC3688A}"/>
              </a:ext>
            </a:extLst>
          </p:cNvPr>
          <p:cNvSpPr txBox="1"/>
          <p:nvPr/>
        </p:nvSpPr>
        <p:spPr>
          <a:xfrm>
            <a:off x="9182100" y="3797300"/>
            <a:ext cx="2095500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Configures, monitors, reviews and governs.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753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DFD5DE-EF9B-9834-E649-4B71AE87ADD9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91589-CE83-BBC0-AC6C-646349A63D40}"/>
              </a:ext>
            </a:extLst>
          </p:cNvPr>
          <p:cNvSpPr txBox="1"/>
          <p:nvPr/>
        </p:nvSpPr>
        <p:spPr>
          <a:xfrm>
            <a:off x="685800" y="444500"/>
            <a:ext cx="6350000" cy="24622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000" b="1">
                <a:solidFill>
                  <a:srgbClr val="C68AE0"/>
                </a:solidFill>
                <a:latin typeface="Aptos" panose="020B0004020202020204" pitchFamily="34" charset="0"/>
              </a:rPr>
              <a:t>08  /  DELIVERY STATUS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EDEC44-6DAC-E54B-0FB6-8A594A9FCECB}"/>
              </a:ext>
            </a:extLst>
          </p:cNvPr>
          <p:cNvSpPr txBox="1"/>
          <p:nvPr/>
        </p:nvSpPr>
        <p:spPr>
          <a:xfrm>
            <a:off x="685800" y="863600"/>
            <a:ext cx="10795000" cy="5539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3000" b="1">
                <a:solidFill>
                  <a:srgbClr val="262319"/>
                </a:solidFill>
                <a:latin typeface="Aptos Display" panose="020B0004020202020204" pitchFamily="34" charset="0"/>
              </a:rPr>
              <a:t>Capabilities ready for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2597B-6ECE-0CE0-F504-C6D375C61364}"/>
              </a:ext>
            </a:extLst>
          </p:cNvPr>
          <p:cNvSpPr txBox="1"/>
          <p:nvPr/>
        </p:nvSpPr>
        <p:spPr>
          <a:xfrm>
            <a:off x="685800" y="1676400"/>
            <a:ext cx="10668000" cy="29238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300">
                <a:solidFill>
                  <a:srgbClr val="7B7574"/>
                </a:solidFill>
                <a:latin typeface="Aptos" panose="020B0004020202020204" pitchFamily="34" charset="0"/>
              </a:rPr>
              <a:t>Functional scope currently represented in the application.</a:t>
            </a:r>
            <a:endParaRPr lang="en-IN" sz="13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7B3492-84D9-A18D-873D-6D47FCB23EAC}"/>
              </a:ext>
            </a:extLst>
          </p:cNvPr>
          <p:cNvSpPr/>
          <p:nvPr/>
        </p:nvSpPr>
        <p:spPr>
          <a:xfrm>
            <a:off x="6858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E1E722-B90D-07C6-BC50-12037ACBB07C}"/>
              </a:ext>
            </a:extLst>
          </p:cNvPr>
          <p:cNvSpPr txBox="1"/>
          <p:nvPr/>
        </p:nvSpPr>
        <p:spPr>
          <a:xfrm>
            <a:off x="9144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01E9DB-457B-FDEA-55E4-AA7C717E9E3E}"/>
              </a:ext>
            </a:extLst>
          </p:cNvPr>
          <p:cNvSpPr txBox="1"/>
          <p:nvPr/>
        </p:nvSpPr>
        <p:spPr>
          <a:xfrm>
            <a:off x="9144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Access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654EEA-B316-0020-A1F7-078BDD2E4750}"/>
              </a:ext>
            </a:extLst>
          </p:cNvPr>
          <p:cNvSpPr txBox="1"/>
          <p:nvPr/>
        </p:nvSpPr>
        <p:spPr>
          <a:xfrm>
            <a:off x="914400" y="3797300"/>
            <a:ext cx="2095500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Registration, OTP, login and role-based sessions.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641E1D-DDCC-A17E-2574-9A2720E7C4F3}"/>
              </a:ext>
            </a:extLst>
          </p:cNvPr>
          <p:cNvSpPr/>
          <p:nvPr/>
        </p:nvSpPr>
        <p:spPr>
          <a:xfrm>
            <a:off x="34417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B96A93-BE60-DCD2-BE61-AFD86AF3D10A}"/>
              </a:ext>
            </a:extLst>
          </p:cNvPr>
          <p:cNvSpPr txBox="1"/>
          <p:nvPr/>
        </p:nvSpPr>
        <p:spPr>
          <a:xfrm>
            <a:off x="36703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D50E4F-4AC6-4E5F-4FF9-918B8925BE20}"/>
              </a:ext>
            </a:extLst>
          </p:cNvPr>
          <p:cNvSpPr txBox="1"/>
          <p:nvPr/>
        </p:nvSpPr>
        <p:spPr>
          <a:xfrm>
            <a:off x="36703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Grievances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0C29E0-3C68-C8C4-AB80-5F658D509334}"/>
              </a:ext>
            </a:extLst>
          </p:cNvPr>
          <p:cNvSpPr txBox="1"/>
          <p:nvPr/>
        </p:nvSpPr>
        <p:spPr>
          <a:xfrm>
            <a:off x="3670300" y="3797300"/>
            <a:ext cx="2095500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Complaint lifecycle, assignments, evidence and reports.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38101A-BC7B-6CAA-6098-BC0A97C7374D}"/>
              </a:ext>
            </a:extLst>
          </p:cNvPr>
          <p:cNvSpPr/>
          <p:nvPr/>
        </p:nvSpPr>
        <p:spPr>
          <a:xfrm>
            <a:off x="61976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1B608F-A482-131C-A8BC-D64C565A87AB}"/>
              </a:ext>
            </a:extLst>
          </p:cNvPr>
          <p:cNvSpPr txBox="1"/>
          <p:nvPr/>
        </p:nvSpPr>
        <p:spPr>
          <a:xfrm>
            <a:off x="64262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3D6CB7-91F8-8A23-3999-37F865BFE8A3}"/>
              </a:ext>
            </a:extLst>
          </p:cNvPr>
          <p:cNvSpPr txBox="1"/>
          <p:nvPr/>
        </p:nvSpPr>
        <p:spPr>
          <a:xfrm>
            <a:off x="64262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Assets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166E36-8973-00C4-B633-596EE5BFCD5A}"/>
              </a:ext>
            </a:extLst>
          </p:cNvPr>
          <p:cNvSpPr txBox="1"/>
          <p:nvPr/>
        </p:nvSpPr>
        <p:spPr>
          <a:xfrm>
            <a:off x="6426200" y="3797300"/>
            <a:ext cx="2095500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GIS records, survey configuration and field review.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676220-6739-0F82-0B2F-E3308182AE57}"/>
              </a:ext>
            </a:extLst>
          </p:cNvPr>
          <p:cNvSpPr/>
          <p:nvPr/>
        </p:nvSpPr>
        <p:spPr>
          <a:xfrm>
            <a:off x="89535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E6431B-32B0-3CF2-490D-6C30F04A62F2}"/>
              </a:ext>
            </a:extLst>
          </p:cNvPr>
          <p:cNvSpPr txBox="1"/>
          <p:nvPr/>
        </p:nvSpPr>
        <p:spPr>
          <a:xfrm>
            <a:off x="91821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79A01B-DD3B-02FA-2D19-3D36F81181A8}"/>
              </a:ext>
            </a:extLst>
          </p:cNvPr>
          <p:cNvSpPr txBox="1"/>
          <p:nvPr/>
        </p:nvSpPr>
        <p:spPr>
          <a:xfrm>
            <a:off x="91821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Administration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D3FDA2-B6F5-DEAC-2036-5238D020503A}"/>
              </a:ext>
            </a:extLst>
          </p:cNvPr>
          <p:cNvSpPr txBox="1"/>
          <p:nvPr/>
        </p:nvSpPr>
        <p:spPr>
          <a:xfrm>
            <a:off x="9182100" y="3797300"/>
            <a:ext cx="2095500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Masters, users, citizens and permissions.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375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31BF92-7590-ED2F-EE8D-02C0603DBD4B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633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47101-A9E9-6803-E4E5-2B6520997279}"/>
              </a:ext>
            </a:extLst>
          </p:cNvPr>
          <p:cNvSpPr txBox="1"/>
          <p:nvPr/>
        </p:nvSpPr>
        <p:spPr>
          <a:xfrm>
            <a:off x="685800" y="444500"/>
            <a:ext cx="6350000" cy="24622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000" b="1">
                <a:solidFill>
                  <a:srgbClr val="C68AE0"/>
                </a:solidFill>
                <a:latin typeface="Aptos" panose="020B0004020202020204" pitchFamily="34" charset="0"/>
              </a:rPr>
              <a:t>09  /  NEXT ACTIONS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51C4C3-4E1A-4F13-0F6C-DF0A08BF968A}"/>
              </a:ext>
            </a:extLst>
          </p:cNvPr>
          <p:cNvSpPr txBox="1"/>
          <p:nvPr/>
        </p:nvSpPr>
        <p:spPr>
          <a:xfrm>
            <a:off x="685800" y="863600"/>
            <a:ext cx="10795000" cy="5539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3000" b="1">
                <a:solidFill>
                  <a:srgbClr val="262319"/>
                </a:solidFill>
                <a:latin typeface="Aptos Display" panose="020B0004020202020204" pitchFamily="34" charset="0"/>
              </a:rPr>
              <a:t>Decisions required from this meeting</a:t>
            </a:r>
            <a:endParaRPr lang="en-IN" sz="3000" b="1">
              <a:solidFill>
                <a:srgbClr val="262319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D5FED-E6C2-2E90-4FCC-8C5B675E9942}"/>
              </a:ext>
            </a:extLst>
          </p:cNvPr>
          <p:cNvSpPr txBox="1"/>
          <p:nvPr/>
        </p:nvSpPr>
        <p:spPr>
          <a:xfrm>
            <a:off x="685800" y="1676400"/>
            <a:ext cx="10668000" cy="29238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300">
                <a:solidFill>
                  <a:srgbClr val="7B7574"/>
                </a:solidFill>
                <a:latin typeface="Aptos" panose="020B0004020202020204" pitchFamily="34" charset="0"/>
              </a:rPr>
              <a:t>Align ownership now to move cleanly through UAT and rollout.</a:t>
            </a:r>
            <a:endParaRPr lang="en-IN" sz="13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CFE123-AF0E-876D-B695-B26616E82F81}"/>
              </a:ext>
            </a:extLst>
          </p:cNvPr>
          <p:cNvSpPr/>
          <p:nvPr/>
        </p:nvSpPr>
        <p:spPr>
          <a:xfrm>
            <a:off x="6858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17295-16AC-2B6D-0F93-70CF1B2D40A6}"/>
              </a:ext>
            </a:extLst>
          </p:cNvPr>
          <p:cNvSpPr txBox="1"/>
          <p:nvPr/>
        </p:nvSpPr>
        <p:spPr>
          <a:xfrm>
            <a:off x="9144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0DFE0-683B-740C-40AA-5BB9292C77C2}"/>
              </a:ext>
            </a:extLst>
          </p:cNvPr>
          <p:cNvSpPr txBox="1"/>
          <p:nvPr/>
        </p:nvSpPr>
        <p:spPr>
          <a:xfrm>
            <a:off x="9144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UAT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77B991-3934-7A64-7CCC-918449715E31}"/>
              </a:ext>
            </a:extLst>
          </p:cNvPr>
          <p:cNvSpPr txBox="1"/>
          <p:nvPr/>
        </p:nvSpPr>
        <p:spPr>
          <a:xfrm>
            <a:off x="914400" y="3797300"/>
            <a:ext cx="2095500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Confirm owners, scenarios and acceptance criteria.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A29073-467F-16AD-E5F3-0273E0022CA4}"/>
              </a:ext>
            </a:extLst>
          </p:cNvPr>
          <p:cNvSpPr/>
          <p:nvPr/>
        </p:nvSpPr>
        <p:spPr>
          <a:xfrm>
            <a:off x="34417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0BACE0-74EB-D57D-72F6-E41AAB906652}"/>
              </a:ext>
            </a:extLst>
          </p:cNvPr>
          <p:cNvSpPr txBox="1"/>
          <p:nvPr/>
        </p:nvSpPr>
        <p:spPr>
          <a:xfrm>
            <a:off x="36703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6B6543-3EBC-66BA-653D-E702EBCA6A95}"/>
              </a:ext>
            </a:extLst>
          </p:cNvPr>
          <p:cNvSpPr txBox="1"/>
          <p:nvPr/>
        </p:nvSpPr>
        <p:spPr>
          <a:xfrm>
            <a:off x="36703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Readiness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B42BB8-1D65-FA73-4272-992962A71543}"/>
              </a:ext>
            </a:extLst>
          </p:cNvPr>
          <p:cNvSpPr txBox="1"/>
          <p:nvPr/>
        </p:nvSpPr>
        <p:spPr>
          <a:xfrm>
            <a:off x="3670300" y="3797300"/>
            <a:ext cx="2095500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Validate production API, SMS and hosting configuration.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96F9A14-778F-2E30-6312-9536F0C12718}"/>
              </a:ext>
            </a:extLst>
          </p:cNvPr>
          <p:cNvSpPr/>
          <p:nvPr/>
        </p:nvSpPr>
        <p:spPr>
          <a:xfrm>
            <a:off x="61976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10D680-4940-8CEE-DB6E-8F3FD11A8BAA}"/>
              </a:ext>
            </a:extLst>
          </p:cNvPr>
          <p:cNvSpPr txBox="1"/>
          <p:nvPr/>
        </p:nvSpPr>
        <p:spPr>
          <a:xfrm>
            <a:off x="64262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311595-C879-6E5D-795A-8D0019ACDFAE}"/>
              </a:ext>
            </a:extLst>
          </p:cNvPr>
          <p:cNvSpPr txBox="1"/>
          <p:nvPr/>
        </p:nvSpPr>
        <p:spPr>
          <a:xfrm>
            <a:off x="64262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Rollout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DDDBB5-F524-9DBE-F3A9-4E96A86939E2}"/>
              </a:ext>
            </a:extLst>
          </p:cNvPr>
          <p:cNvSpPr txBox="1"/>
          <p:nvPr/>
        </p:nvSpPr>
        <p:spPr>
          <a:xfrm>
            <a:off x="6426200" y="3797300"/>
            <a:ext cx="2095500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Approve training, field pilot and phased launch plan.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4A6E711-F921-D907-A2CC-51CD231D4542}"/>
              </a:ext>
            </a:extLst>
          </p:cNvPr>
          <p:cNvSpPr/>
          <p:nvPr/>
        </p:nvSpPr>
        <p:spPr>
          <a:xfrm>
            <a:off x="8953500" y="2603500"/>
            <a:ext cx="2552700" cy="284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FB8465-AC36-A07A-0778-B2218489974C}"/>
              </a:ext>
            </a:extLst>
          </p:cNvPr>
          <p:cNvSpPr txBox="1"/>
          <p:nvPr/>
        </p:nvSpPr>
        <p:spPr>
          <a:xfrm>
            <a:off x="9182100" y="2832100"/>
            <a:ext cx="508000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100" b="1">
                <a:solidFill>
                  <a:srgbClr val="C68AE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EFC48B-3AA3-EBF3-2A0C-185971029B1B}"/>
              </a:ext>
            </a:extLst>
          </p:cNvPr>
          <p:cNvSpPr txBox="1"/>
          <p:nvPr/>
        </p:nvSpPr>
        <p:spPr>
          <a:xfrm>
            <a:off x="9182100" y="3263900"/>
            <a:ext cx="20955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IN" sz="1700" b="1">
                <a:solidFill>
                  <a:srgbClr val="16332C"/>
                </a:solidFill>
                <a:latin typeface="Aptos" panose="020B0004020202020204" pitchFamily="34" charset="0"/>
              </a:rPr>
              <a:t>Measure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D3B519-3830-F3ED-2FFC-BCD9C953414C}"/>
              </a:ext>
            </a:extLst>
          </p:cNvPr>
          <p:cNvSpPr txBox="1"/>
          <p:nvPr/>
        </p:nvSpPr>
        <p:spPr>
          <a:xfrm>
            <a:off x="9182100" y="3797300"/>
            <a:ext cx="2095500" cy="43088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100">
                <a:solidFill>
                  <a:srgbClr val="7B7574"/>
                </a:solidFill>
                <a:latin typeface="Aptos" panose="020B0004020202020204" pitchFamily="34" charset="0"/>
              </a:rPr>
              <a:t>Agree launch KPIs, support process and review cadence.</a:t>
            </a:r>
            <a:endParaRPr lang="en-IN" sz="1100">
              <a:solidFill>
                <a:srgbClr val="7B757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481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Microsoft Office PowerPoint</Application>
  <PresentationFormat>Custom</PresentationFormat>
  <Paragraphs>146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Ravinder Dahiya</dc:creator>
  <cp:lastModifiedBy>Ravinder Dahiya</cp:lastModifiedBy>
  <cp:revision>1</cp:revision>
  <dcterms:created xsi:type="dcterms:W3CDTF">2026-08-04T06:12:46Z</dcterms:created>
  <dcterms:modified xsi:type="dcterms:W3CDTF">2026-08-04T06:12:46Z</dcterms:modified>
</cp:coreProperties>
</file>